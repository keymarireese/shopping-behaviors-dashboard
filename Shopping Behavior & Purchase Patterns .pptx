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56" d="100"/>
          <a:sy n="56" d="100"/>
        </p:scale>
        <p:origin x="18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803ABD-2E8C-47D1-8541-CDA9C5D7517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716F04-4112-49F7-A11F-4689A7AF11BC}">
      <dgm:prSet/>
      <dgm:spPr/>
      <dgm:t>
        <a:bodyPr/>
        <a:lstStyle/>
        <a:p>
          <a:r>
            <a:rPr lang="en-US" b="0" i="0" baseline="0" dirty="0"/>
            <a:t>Identify key customer segments driving purchases</a:t>
          </a:r>
          <a:endParaRPr lang="en-US" dirty="0"/>
        </a:p>
      </dgm:t>
    </dgm:pt>
    <dgm:pt modelId="{9497BF68-BD1A-41D4-B74F-787B62B2E2C5}" type="parTrans" cxnId="{A02EFF91-5E43-4ACD-97FD-0EC17091F60E}">
      <dgm:prSet/>
      <dgm:spPr/>
      <dgm:t>
        <a:bodyPr/>
        <a:lstStyle/>
        <a:p>
          <a:endParaRPr lang="en-US"/>
        </a:p>
      </dgm:t>
    </dgm:pt>
    <dgm:pt modelId="{3EEEB6FB-B38E-4C84-80F3-F54795173636}" type="sibTrans" cxnId="{A02EFF91-5E43-4ACD-97FD-0EC17091F60E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BE90E32-F7D6-4D3F-829E-29FF9505FBD9}">
      <dgm:prSet/>
      <dgm:spPr/>
      <dgm:t>
        <a:bodyPr/>
        <a:lstStyle/>
        <a:p>
          <a:r>
            <a:rPr lang="en-US" b="0" i="0" baseline="0"/>
            <a:t>Understand spending behavior and discount usage</a:t>
          </a:r>
          <a:endParaRPr lang="en-US"/>
        </a:p>
      </dgm:t>
    </dgm:pt>
    <dgm:pt modelId="{6E8D0214-9240-4E81-B87E-A4698597C132}" type="parTrans" cxnId="{5BE72F46-0EBB-4BA9-83EA-D20A36E25DAB}">
      <dgm:prSet/>
      <dgm:spPr/>
      <dgm:t>
        <a:bodyPr/>
        <a:lstStyle/>
        <a:p>
          <a:endParaRPr lang="en-US"/>
        </a:p>
      </dgm:t>
    </dgm:pt>
    <dgm:pt modelId="{C0390ACB-4D2E-4ECB-B47A-D8011DCDBECB}" type="sibTrans" cxnId="{5BE72F46-0EBB-4BA9-83EA-D20A36E25DA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2487E4D-B4F1-44B9-8A57-649A733D8179}">
      <dgm:prSet/>
      <dgm:spPr/>
      <dgm:t>
        <a:bodyPr/>
        <a:lstStyle/>
        <a:p>
          <a:r>
            <a:rPr lang="en-US" b="0" i="0" baseline="0"/>
            <a:t>Evaluate purchase frequency and subscription behavior</a:t>
          </a:r>
          <a:endParaRPr lang="en-US"/>
        </a:p>
      </dgm:t>
    </dgm:pt>
    <dgm:pt modelId="{E27C2008-A066-49A1-A53A-BD26E31A2749}" type="parTrans" cxnId="{1D25317E-44CB-4095-8E31-C77110064AE3}">
      <dgm:prSet/>
      <dgm:spPr/>
      <dgm:t>
        <a:bodyPr/>
        <a:lstStyle/>
        <a:p>
          <a:endParaRPr lang="en-US"/>
        </a:p>
      </dgm:t>
    </dgm:pt>
    <dgm:pt modelId="{994C80B9-78B7-46A2-B62D-7F0D7BA9AC8B}" type="sibTrans" cxnId="{1D25317E-44CB-4095-8E31-C77110064AE3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1E3ABEE0-045D-4D51-A80F-DD79C656140D}">
      <dgm:prSet/>
      <dgm:spPr/>
      <dgm:t>
        <a:bodyPr/>
        <a:lstStyle/>
        <a:p>
          <a:r>
            <a:rPr lang="en-US" b="0" i="0" baseline="0"/>
            <a:t>Surface patterns by age, gender, location, and season</a:t>
          </a:r>
          <a:endParaRPr lang="en-US"/>
        </a:p>
      </dgm:t>
    </dgm:pt>
    <dgm:pt modelId="{590BCD27-2335-4C50-820F-4BBCA7F0AA14}" type="parTrans" cxnId="{A4912158-E0F1-440D-8756-D9DD33E31E21}">
      <dgm:prSet/>
      <dgm:spPr/>
      <dgm:t>
        <a:bodyPr/>
        <a:lstStyle/>
        <a:p>
          <a:endParaRPr lang="en-US"/>
        </a:p>
      </dgm:t>
    </dgm:pt>
    <dgm:pt modelId="{D9E09C73-E97C-4397-9127-CB4F90C91BAE}" type="sibTrans" cxnId="{A4912158-E0F1-440D-8756-D9DD33E31E21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AE1AD3AD-6A9B-4005-A7BD-C1D8BDEA68D7}" type="pres">
      <dgm:prSet presAssocID="{3E803ABD-2E8C-47D1-8541-CDA9C5D75170}" presName="Name0" presStyleCnt="0">
        <dgm:presLayoutVars>
          <dgm:animLvl val="lvl"/>
          <dgm:resizeHandles val="exact"/>
        </dgm:presLayoutVars>
      </dgm:prSet>
      <dgm:spPr/>
    </dgm:pt>
    <dgm:pt modelId="{975BD867-A7ED-44FD-B684-E528702A1333}" type="pres">
      <dgm:prSet presAssocID="{57716F04-4112-49F7-A11F-4689A7AF11BC}" presName="compositeNode" presStyleCnt="0">
        <dgm:presLayoutVars>
          <dgm:bulletEnabled val="1"/>
        </dgm:presLayoutVars>
      </dgm:prSet>
      <dgm:spPr/>
    </dgm:pt>
    <dgm:pt modelId="{5F9CCA61-A163-4E1C-83D5-10A10E96B2D9}" type="pres">
      <dgm:prSet presAssocID="{57716F04-4112-49F7-A11F-4689A7AF11BC}" presName="bgRect" presStyleLbl="alignNode1" presStyleIdx="0" presStyleCnt="4"/>
      <dgm:spPr/>
    </dgm:pt>
    <dgm:pt modelId="{FE05365F-E5DF-4CEB-8234-89567DDA8EE7}" type="pres">
      <dgm:prSet presAssocID="{3EEEB6FB-B38E-4C84-80F3-F54795173636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F928896-6096-4892-AED8-42ABF9BB689A}" type="pres">
      <dgm:prSet presAssocID="{57716F04-4112-49F7-A11F-4689A7AF11BC}" presName="nodeRect" presStyleLbl="alignNode1" presStyleIdx="0" presStyleCnt="4">
        <dgm:presLayoutVars>
          <dgm:bulletEnabled val="1"/>
        </dgm:presLayoutVars>
      </dgm:prSet>
      <dgm:spPr/>
    </dgm:pt>
    <dgm:pt modelId="{48048237-4A6F-445B-871C-54654816346A}" type="pres">
      <dgm:prSet presAssocID="{3EEEB6FB-B38E-4C84-80F3-F54795173636}" presName="sibTrans" presStyleCnt="0"/>
      <dgm:spPr/>
    </dgm:pt>
    <dgm:pt modelId="{C13E7789-A7AF-4E8C-87FA-76E6B1050C16}" type="pres">
      <dgm:prSet presAssocID="{0BE90E32-F7D6-4D3F-829E-29FF9505FBD9}" presName="compositeNode" presStyleCnt="0">
        <dgm:presLayoutVars>
          <dgm:bulletEnabled val="1"/>
        </dgm:presLayoutVars>
      </dgm:prSet>
      <dgm:spPr/>
    </dgm:pt>
    <dgm:pt modelId="{B929AB80-B77C-4E76-8ADB-101EDC920391}" type="pres">
      <dgm:prSet presAssocID="{0BE90E32-F7D6-4D3F-829E-29FF9505FBD9}" presName="bgRect" presStyleLbl="alignNode1" presStyleIdx="1" presStyleCnt="4"/>
      <dgm:spPr/>
    </dgm:pt>
    <dgm:pt modelId="{11AD717D-D8C0-4CC6-8E84-538A55FC551E}" type="pres">
      <dgm:prSet presAssocID="{C0390ACB-4D2E-4ECB-B47A-D8011DCDBECB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33DF1163-C15C-4A71-9FD2-02EC1DCCF92E}" type="pres">
      <dgm:prSet presAssocID="{0BE90E32-F7D6-4D3F-829E-29FF9505FBD9}" presName="nodeRect" presStyleLbl="alignNode1" presStyleIdx="1" presStyleCnt="4">
        <dgm:presLayoutVars>
          <dgm:bulletEnabled val="1"/>
        </dgm:presLayoutVars>
      </dgm:prSet>
      <dgm:spPr/>
    </dgm:pt>
    <dgm:pt modelId="{1A31CD33-3EF4-4CE6-AACE-5F963B8E8249}" type="pres">
      <dgm:prSet presAssocID="{C0390ACB-4D2E-4ECB-B47A-D8011DCDBECB}" presName="sibTrans" presStyleCnt="0"/>
      <dgm:spPr/>
    </dgm:pt>
    <dgm:pt modelId="{16F87264-10B3-4203-8906-E4DF6E436A50}" type="pres">
      <dgm:prSet presAssocID="{D2487E4D-B4F1-44B9-8A57-649A733D8179}" presName="compositeNode" presStyleCnt="0">
        <dgm:presLayoutVars>
          <dgm:bulletEnabled val="1"/>
        </dgm:presLayoutVars>
      </dgm:prSet>
      <dgm:spPr/>
    </dgm:pt>
    <dgm:pt modelId="{E10E21E6-DA10-4411-A6AD-4DE414E34A5A}" type="pres">
      <dgm:prSet presAssocID="{D2487E4D-B4F1-44B9-8A57-649A733D8179}" presName="bgRect" presStyleLbl="alignNode1" presStyleIdx="2" presStyleCnt="4"/>
      <dgm:spPr/>
    </dgm:pt>
    <dgm:pt modelId="{10B7FAE1-B029-4B8B-9462-8A96E6FECCEB}" type="pres">
      <dgm:prSet presAssocID="{994C80B9-78B7-46A2-B62D-7F0D7BA9AC8B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C3CBD78E-32A2-4820-A348-E9B5DDD172EC}" type="pres">
      <dgm:prSet presAssocID="{D2487E4D-B4F1-44B9-8A57-649A733D8179}" presName="nodeRect" presStyleLbl="alignNode1" presStyleIdx="2" presStyleCnt="4">
        <dgm:presLayoutVars>
          <dgm:bulletEnabled val="1"/>
        </dgm:presLayoutVars>
      </dgm:prSet>
      <dgm:spPr/>
    </dgm:pt>
    <dgm:pt modelId="{FF94B995-19C2-4142-84E0-F2FECFE8AD7D}" type="pres">
      <dgm:prSet presAssocID="{994C80B9-78B7-46A2-B62D-7F0D7BA9AC8B}" presName="sibTrans" presStyleCnt="0"/>
      <dgm:spPr/>
    </dgm:pt>
    <dgm:pt modelId="{614DDA27-E095-455C-A9AD-7D6FD6B72E1D}" type="pres">
      <dgm:prSet presAssocID="{1E3ABEE0-045D-4D51-A80F-DD79C656140D}" presName="compositeNode" presStyleCnt="0">
        <dgm:presLayoutVars>
          <dgm:bulletEnabled val="1"/>
        </dgm:presLayoutVars>
      </dgm:prSet>
      <dgm:spPr/>
    </dgm:pt>
    <dgm:pt modelId="{87470D65-6D78-4E41-A82C-D1EF4B0EB1BF}" type="pres">
      <dgm:prSet presAssocID="{1E3ABEE0-045D-4D51-A80F-DD79C656140D}" presName="bgRect" presStyleLbl="alignNode1" presStyleIdx="3" presStyleCnt="4"/>
      <dgm:spPr/>
    </dgm:pt>
    <dgm:pt modelId="{F12B4779-395F-4610-A1F2-CCB678CA7C04}" type="pres">
      <dgm:prSet presAssocID="{D9E09C73-E97C-4397-9127-CB4F90C91BAE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6400AE5C-9D2E-4E41-9E94-646BAABEB871}" type="pres">
      <dgm:prSet presAssocID="{1E3ABEE0-045D-4D51-A80F-DD79C656140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625D5832-DA6F-4008-BC81-47E45FCA12C2}" type="presOf" srcId="{0BE90E32-F7D6-4D3F-829E-29FF9505FBD9}" destId="{B929AB80-B77C-4E76-8ADB-101EDC920391}" srcOrd="0" destOrd="0" presId="urn:microsoft.com/office/officeart/2016/7/layout/LinearBlockProcessNumbered"/>
    <dgm:cxn modelId="{8FB7103C-09D8-46D7-8366-E460ED45DBF8}" type="presOf" srcId="{3EEEB6FB-B38E-4C84-80F3-F54795173636}" destId="{FE05365F-E5DF-4CEB-8234-89567DDA8EE7}" srcOrd="0" destOrd="0" presId="urn:microsoft.com/office/officeart/2016/7/layout/LinearBlockProcessNumbered"/>
    <dgm:cxn modelId="{5BE72F46-0EBB-4BA9-83EA-D20A36E25DAB}" srcId="{3E803ABD-2E8C-47D1-8541-CDA9C5D75170}" destId="{0BE90E32-F7D6-4D3F-829E-29FF9505FBD9}" srcOrd="1" destOrd="0" parTransId="{6E8D0214-9240-4E81-B87E-A4698597C132}" sibTransId="{C0390ACB-4D2E-4ECB-B47A-D8011DCDBECB}"/>
    <dgm:cxn modelId="{4605D76C-A9FB-4F1C-A466-300A8790C5A6}" type="presOf" srcId="{C0390ACB-4D2E-4ECB-B47A-D8011DCDBECB}" destId="{11AD717D-D8C0-4CC6-8E84-538A55FC551E}" srcOrd="0" destOrd="0" presId="urn:microsoft.com/office/officeart/2016/7/layout/LinearBlockProcessNumbered"/>
    <dgm:cxn modelId="{6A4C3A50-6BCE-4A5A-9B96-3DD39D7AB260}" type="presOf" srcId="{57716F04-4112-49F7-A11F-4689A7AF11BC}" destId="{5F9CCA61-A163-4E1C-83D5-10A10E96B2D9}" srcOrd="0" destOrd="0" presId="urn:microsoft.com/office/officeart/2016/7/layout/LinearBlockProcessNumbered"/>
    <dgm:cxn modelId="{143D8371-3C16-4D9B-AC00-3E48A8777276}" type="presOf" srcId="{D2487E4D-B4F1-44B9-8A57-649A733D8179}" destId="{C3CBD78E-32A2-4820-A348-E9B5DDD172EC}" srcOrd="1" destOrd="0" presId="urn:microsoft.com/office/officeart/2016/7/layout/LinearBlockProcessNumbered"/>
    <dgm:cxn modelId="{A4912158-E0F1-440D-8756-D9DD33E31E21}" srcId="{3E803ABD-2E8C-47D1-8541-CDA9C5D75170}" destId="{1E3ABEE0-045D-4D51-A80F-DD79C656140D}" srcOrd="3" destOrd="0" parTransId="{590BCD27-2335-4C50-820F-4BBCA7F0AA14}" sibTransId="{D9E09C73-E97C-4397-9127-CB4F90C91BAE}"/>
    <dgm:cxn modelId="{1D25317E-44CB-4095-8E31-C77110064AE3}" srcId="{3E803ABD-2E8C-47D1-8541-CDA9C5D75170}" destId="{D2487E4D-B4F1-44B9-8A57-649A733D8179}" srcOrd="2" destOrd="0" parTransId="{E27C2008-A066-49A1-A53A-BD26E31A2749}" sibTransId="{994C80B9-78B7-46A2-B62D-7F0D7BA9AC8B}"/>
    <dgm:cxn modelId="{EF484189-BA77-4F84-9BE9-1F83B855C32B}" type="presOf" srcId="{D2487E4D-B4F1-44B9-8A57-649A733D8179}" destId="{E10E21E6-DA10-4411-A6AD-4DE414E34A5A}" srcOrd="0" destOrd="0" presId="urn:microsoft.com/office/officeart/2016/7/layout/LinearBlockProcessNumbered"/>
    <dgm:cxn modelId="{A02EFF91-5E43-4ACD-97FD-0EC17091F60E}" srcId="{3E803ABD-2E8C-47D1-8541-CDA9C5D75170}" destId="{57716F04-4112-49F7-A11F-4689A7AF11BC}" srcOrd="0" destOrd="0" parTransId="{9497BF68-BD1A-41D4-B74F-787B62B2E2C5}" sibTransId="{3EEEB6FB-B38E-4C84-80F3-F54795173636}"/>
    <dgm:cxn modelId="{5075A49B-A2F9-408E-9326-3E999C14BA14}" type="presOf" srcId="{57716F04-4112-49F7-A11F-4689A7AF11BC}" destId="{DF928896-6096-4892-AED8-42ABF9BB689A}" srcOrd="1" destOrd="0" presId="urn:microsoft.com/office/officeart/2016/7/layout/LinearBlockProcessNumbered"/>
    <dgm:cxn modelId="{5B8182A7-F1BA-41F0-AEE7-4A9272B02D97}" type="presOf" srcId="{994C80B9-78B7-46A2-B62D-7F0D7BA9AC8B}" destId="{10B7FAE1-B029-4B8B-9462-8A96E6FECCEB}" srcOrd="0" destOrd="0" presId="urn:microsoft.com/office/officeart/2016/7/layout/LinearBlockProcessNumbered"/>
    <dgm:cxn modelId="{92D147C9-4D95-45AE-AEAF-2C74033641E2}" type="presOf" srcId="{1E3ABEE0-045D-4D51-A80F-DD79C656140D}" destId="{6400AE5C-9D2E-4E41-9E94-646BAABEB871}" srcOrd="1" destOrd="0" presId="urn:microsoft.com/office/officeart/2016/7/layout/LinearBlockProcessNumbered"/>
    <dgm:cxn modelId="{17CE42CD-66FC-49A6-8EB0-4B82A239EF99}" type="presOf" srcId="{3E803ABD-2E8C-47D1-8541-CDA9C5D75170}" destId="{AE1AD3AD-6A9B-4005-A7BD-C1D8BDEA68D7}" srcOrd="0" destOrd="0" presId="urn:microsoft.com/office/officeart/2016/7/layout/LinearBlockProcessNumbered"/>
    <dgm:cxn modelId="{4F429AE4-E675-4156-8E62-46919EF9EA08}" type="presOf" srcId="{1E3ABEE0-045D-4D51-A80F-DD79C656140D}" destId="{87470D65-6D78-4E41-A82C-D1EF4B0EB1BF}" srcOrd="0" destOrd="0" presId="urn:microsoft.com/office/officeart/2016/7/layout/LinearBlockProcessNumbered"/>
    <dgm:cxn modelId="{32E554EE-6E6D-495F-9E2D-EE949832B18C}" type="presOf" srcId="{0BE90E32-F7D6-4D3F-829E-29FF9505FBD9}" destId="{33DF1163-C15C-4A71-9FD2-02EC1DCCF92E}" srcOrd="1" destOrd="0" presId="urn:microsoft.com/office/officeart/2016/7/layout/LinearBlockProcessNumbered"/>
    <dgm:cxn modelId="{A66B18FC-6DB4-4FAE-A163-0B2E80E3955B}" type="presOf" srcId="{D9E09C73-E97C-4397-9127-CB4F90C91BAE}" destId="{F12B4779-395F-4610-A1F2-CCB678CA7C04}" srcOrd="0" destOrd="0" presId="urn:microsoft.com/office/officeart/2016/7/layout/LinearBlockProcessNumbered"/>
    <dgm:cxn modelId="{6639D867-0101-472A-9408-8A6DF17075E2}" type="presParOf" srcId="{AE1AD3AD-6A9B-4005-A7BD-C1D8BDEA68D7}" destId="{975BD867-A7ED-44FD-B684-E528702A1333}" srcOrd="0" destOrd="0" presId="urn:microsoft.com/office/officeart/2016/7/layout/LinearBlockProcessNumbered"/>
    <dgm:cxn modelId="{68B9D6C1-1DED-4270-881A-E806AD49C0BA}" type="presParOf" srcId="{975BD867-A7ED-44FD-B684-E528702A1333}" destId="{5F9CCA61-A163-4E1C-83D5-10A10E96B2D9}" srcOrd="0" destOrd="0" presId="urn:microsoft.com/office/officeart/2016/7/layout/LinearBlockProcessNumbered"/>
    <dgm:cxn modelId="{CE2C463F-54AB-4945-A0C6-156A5E7B52F5}" type="presParOf" srcId="{975BD867-A7ED-44FD-B684-E528702A1333}" destId="{FE05365F-E5DF-4CEB-8234-89567DDA8EE7}" srcOrd="1" destOrd="0" presId="urn:microsoft.com/office/officeart/2016/7/layout/LinearBlockProcessNumbered"/>
    <dgm:cxn modelId="{109D3197-22C3-4C02-BE57-7E67626C7A9F}" type="presParOf" srcId="{975BD867-A7ED-44FD-B684-E528702A1333}" destId="{DF928896-6096-4892-AED8-42ABF9BB689A}" srcOrd="2" destOrd="0" presId="urn:microsoft.com/office/officeart/2016/7/layout/LinearBlockProcessNumbered"/>
    <dgm:cxn modelId="{89E3457F-2EB3-4831-9E41-2C28B240FBDB}" type="presParOf" srcId="{AE1AD3AD-6A9B-4005-A7BD-C1D8BDEA68D7}" destId="{48048237-4A6F-445B-871C-54654816346A}" srcOrd="1" destOrd="0" presId="urn:microsoft.com/office/officeart/2016/7/layout/LinearBlockProcessNumbered"/>
    <dgm:cxn modelId="{BF1381EE-6A8C-4E20-8AFC-EADE86E94679}" type="presParOf" srcId="{AE1AD3AD-6A9B-4005-A7BD-C1D8BDEA68D7}" destId="{C13E7789-A7AF-4E8C-87FA-76E6B1050C16}" srcOrd="2" destOrd="0" presId="urn:microsoft.com/office/officeart/2016/7/layout/LinearBlockProcessNumbered"/>
    <dgm:cxn modelId="{14FC50B9-1596-4B67-B30C-EE6673BF5B9A}" type="presParOf" srcId="{C13E7789-A7AF-4E8C-87FA-76E6B1050C16}" destId="{B929AB80-B77C-4E76-8ADB-101EDC920391}" srcOrd="0" destOrd="0" presId="urn:microsoft.com/office/officeart/2016/7/layout/LinearBlockProcessNumbered"/>
    <dgm:cxn modelId="{4FC1B8BE-F1F7-4A3B-8257-DD427BE9F3BF}" type="presParOf" srcId="{C13E7789-A7AF-4E8C-87FA-76E6B1050C16}" destId="{11AD717D-D8C0-4CC6-8E84-538A55FC551E}" srcOrd="1" destOrd="0" presId="urn:microsoft.com/office/officeart/2016/7/layout/LinearBlockProcessNumbered"/>
    <dgm:cxn modelId="{90B31F39-2FEF-4BC0-921C-1079F702C0B1}" type="presParOf" srcId="{C13E7789-A7AF-4E8C-87FA-76E6B1050C16}" destId="{33DF1163-C15C-4A71-9FD2-02EC1DCCF92E}" srcOrd="2" destOrd="0" presId="urn:microsoft.com/office/officeart/2016/7/layout/LinearBlockProcessNumbered"/>
    <dgm:cxn modelId="{0648F0B4-AC73-4A16-BEA2-D35F688FD918}" type="presParOf" srcId="{AE1AD3AD-6A9B-4005-A7BD-C1D8BDEA68D7}" destId="{1A31CD33-3EF4-4CE6-AACE-5F963B8E8249}" srcOrd="3" destOrd="0" presId="urn:microsoft.com/office/officeart/2016/7/layout/LinearBlockProcessNumbered"/>
    <dgm:cxn modelId="{422E3C52-9794-4DC0-8E4E-C7871513B177}" type="presParOf" srcId="{AE1AD3AD-6A9B-4005-A7BD-C1D8BDEA68D7}" destId="{16F87264-10B3-4203-8906-E4DF6E436A50}" srcOrd="4" destOrd="0" presId="urn:microsoft.com/office/officeart/2016/7/layout/LinearBlockProcessNumbered"/>
    <dgm:cxn modelId="{7428A067-6F08-4797-9D81-892FAC36B776}" type="presParOf" srcId="{16F87264-10B3-4203-8906-E4DF6E436A50}" destId="{E10E21E6-DA10-4411-A6AD-4DE414E34A5A}" srcOrd="0" destOrd="0" presId="urn:microsoft.com/office/officeart/2016/7/layout/LinearBlockProcessNumbered"/>
    <dgm:cxn modelId="{4DE98F26-4E0B-47D6-A5E5-CDD9E9F846B8}" type="presParOf" srcId="{16F87264-10B3-4203-8906-E4DF6E436A50}" destId="{10B7FAE1-B029-4B8B-9462-8A96E6FECCEB}" srcOrd="1" destOrd="0" presId="urn:microsoft.com/office/officeart/2016/7/layout/LinearBlockProcessNumbered"/>
    <dgm:cxn modelId="{D07A3847-F157-4B9B-ADC4-6BF2C2CCCE85}" type="presParOf" srcId="{16F87264-10B3-4203-8906-E4DF6E436A50}" destId="{C3CBD78E-32A2-4820-A348-E9B5DDD172EC}" srcOrd="2" destOrd="0" presId="urn:microsoft.com/office/officeart/2016/7/layout/LinearBlockProcessNumbered"/>
    <dgm:cxn modelId="{906399FE-3EBB-4DCB-8CAE-695664D74416}" type="presParOf" srcId="{AE1AD3AD-6A9B-4005-A7BD-C1D8BDEA68D7}" destId="{FF94B995-19C2-4142-84E0-F2FECFE8AD7D}" srcOrd="5" destOrd="0" presId="urn:microsoft.com/office/officeart/2016/7/layout/LinearBlockProcessNumbered"/>
    <dgm:cxn modelId="{C3C4BE14-E2B4-4FD8-BEAC-963254DF3387}" type="presParOf" srcId="{AE1AD3AD-6A9B-4005-A7BD-C1D8BDEA68D7}" destId="{614DDA27-E095-455C-A9AD-7D6FD6B72E1D}" srcOrd="6" destOrd="0" presId="urn:microsoft.com/office/officeart/2016/7/layout/LinearBlockProcessNumbered"/>
    <dgm:cxn modelId="{11FA99B2-BC48-432E-8941-1EF41EBCDD18}" type="presParOf" srcId="{614DDA27-E095-455C-A9AD-7D6FD6B72E1D}" destId="{87470D65-6D78-4E41-A82C-D1EF4B0EB1BF}" srcOrd="0" destOrd="0" presId="urn:microsoft.com/office/officeart/2016/7/layout/LinearBlockProcessNumbered"/>
    <dgm:cxn modelId="{B05DE9AB-3740-4564-B979-593BFEAD79F8}" type="presParOf" srcId="{614DDA27-E095-455C-A9AD-7D6FD6B72E1D}" destId="{F12B4779-395F-4610-A1F2-CCB678CA7C04}" srcOrd="1" destOrd="0" presId="urn:microsoft.com/office/officeart/2016/7/layout/LinearBlockProcessNumbered"/>
    <dgm:cxn modelId="{98F4BA2A-541F-4C2C-8CDF-9A9B69B82446}" type="presParOf" srcId="{614DDA27-E095-455C-A9AD-7D6FD6B72E1D}" destId="{6400AE5C-9D2E-4E41-9E94-646BAABEB87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CCA61-A163-4E1C-83D5-10A10E96B2D9}">
      <dsp:nvSpPr>
        <dsp:cNvPr id="0" name=""/>
        <dsp:cNvSpPr/>
      </dsp:nvSpPr>
      <dsp:spPr>
        <a:xfrm>
          <a:off x="196" y="469737"/>
          <a:ext cx="2372171" cy="28466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Identify key customer segments driving purchases</a:t>
          </a:r>
          <a:endParaRPr lang="en-US" sz="2000" kern="1200" dirty="0"/>
        </a:p>
      </dsp:txBody>
      <dsp:txXfrm>
        <a:off x="196" y="1608379"/>
        <a:ext cx="2372171" cy="1707963"/>
      </dsp:txXfrm>
    </dsp:sp>
    <dsp:sp modelId="{FE05365F-E5DF-4CEB-8234-89567DDA8EE7}">
      <dsp:nvSpPr>
        <dsp:cNvPr id="0" name=""/>
        <dsp:cNvSpPr/>
      </dsp:nvSpPr>
      <dsp:spPr>
        <a:xfrm>
          <a:off x="196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01</a:t>
          </a:r>
        </a:p>
      </dsp:txBody>
      <dsp:txXfrm>
        <a:off x="196" y="469737"/>
        <a:ext cx="2372171" cy="1138642"/>
      </dsp:txXfrm>
    </dsp:sp>
    <dsp:sp modelId="{B929AB80-B77C-4E76-8ADB-101EDC920391}">
      <dsp:nvSpPr>
        <dsp:cNvPr id="0" name=""/>
        <dsp:cNvSpPr/>
      </dsp:nvSpPr>
      <dsp:spPr>
        <a:xfrm>
          <a:off x="2562141" y="469737"/>
          <a:ext cx="2372171" cy="2846605"/>
        </a:xfrm>
        <a:prstGeom prst="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accent2">
              <a:hueOff val="13013"/>
              <a:satOff val="-8959"/>
              <a:lumOff val="-2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Understand spending behavior and discount usage</a:t>
          </a:r>
          <a:endParaRPr lang="en-US" sz="2000" kern="1200"/>
        </a:p>
      </dsp:txBody>
      <dsp:txXfrm>
        <a:off x="2562141" y="1608379"/>
        <a:ext cx="2372171" cy="1707963"/>
      </dsp:txXfrm>
    </dsp:sp>
    <dsp:sp modelId="{11AD717D-D8C0-4CC6-8E84-538A55FC551E}">
      <dsp:nvSpPr>
        <dsp:cNvPr id="0" name=""/>
        <dsp:cNvSpPr/>
      </dsp:nvSpPr>
      <dsp:spPr>
        <a:xfrm>
          <a:off x="2562141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02</a:t>
          </a:r>
        </a:p>
      </dsp:txBody>
      <dsp:txXfrm>
        <a:off x="2562141" y="469737"/>
        <a:ext cx="2372171" cy="1138642"/>
      </dsp:txXfrm>
    </dsp:sp>
    <dsp:sp modelId="{E10E21E6-DA10-4411-A6AD-4DE414E34A5A}">
      <dsp:nvSpPr>
        <dsp:cNvPr id="0" name=""/>
        <dsp:cNvSpPr/>
      </dsp:nvSpPr>
      <dsp:spPr>
        <a:xfrm>
          <a:off x="5124086" y="469737"/>
          <a:ext cx="2372171" cy="2846605"/>
        </a:xfrm>
        <a:prstGeom prst="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accent2">
              <a:hueOff val="26025"/>
              <a:satOff val="-17917"/>
              <a:lumOff val="-45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Evaluate purchase frequency and subscription behavior</a:t>
          </a:r>
          <a:endParaRPr lang="en-US" sz="2000" kern="1200"/>
        </a:p>
      </dsp:txBody>
      <dsp:txXfrm>
        <a:off x="5124086" y="1608379"/>
        <a:ext cx="2372171" cy="1707963"/>
      </dsp:txXfrm>
    </dsp:sp>
    <dsp:sp modelId="{10B7FAE1-B029-4B8B-9462-8A96E6FECCEB}">
      <dsp:nvSpPr>
        <dsp:cNvPr id="0" name=""/>
        <dsp:cNvSpPr/>
      </dsp:nvSpPr>
      <dsp:spPr>
        <a:xfrm>
          <a:off x="5124086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03</a:t>
          </a:r>
        </a:p>
      </dsp:txBody>
      <dsp:txXfrm>
        <a:off x="5124086" y="469737"/>
        <a:ext cx="2372171" cy="1138642"/>
      </dsp:txXfrm>
    </dsp:sp>
    <dsp:sp modelId="{87470D65-6D78-4E41-A82C-D1EF4B0EB1BF}">
      <dsp:nvSpPr>
        <dsp:cNvPr id="0" name=""/>
        <dsp:cNvSpPr/>
      </dsp:nvSpPr>
      <dsp:spPr>
        <a:xfrm>
          <a:off x="7686032" y="469737"/>
          <a:ext cx="2372171" cy="2846605"/>
        </a:xfrm>
        <a:prstGeom prst="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0" rIns="23431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Surface patterns by age, gender, location, and season</a:t>
          </a:r>
          <a:endParaRPr lang="en-US" sz="2000" kern="1200"/>
        </a:p>
      </dsp:txBody>
      <dsp:txXfrm>
        <a:off x="7686032" y="1608379"/>
        <a:ext cx="2372171" cy="1707963"/>
      </dsp:txXfrm>
    </dsp:sp>
    <dsp:sp modelId="{F12B4779-395F-4610-A1F2-CCB678CA7C04}">
      <dsp:nvSpPr>
        <dsp:cNvPr id="0" name=""/>
        <dsp:cNvSpPr/>
      </dsp:nvSpPr>
      <dsp:spPr>
        <a:xfrm>
          <a:off x="7686032" y="469737"/>
          <a:ext cx="2372171" cy="113864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318" tIns="165100" rIns="234318" bIns="16510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04</a:t>
          </a:r>
        </a:p>
      </dsp:txBody>
      <dsp:txXfrm>
        <a:off x="7686032" y="469737"/>
        <a:ext cx="2372171" cy="1138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23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4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46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03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2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0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3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9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17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3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7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F3369A2-AB17-4660-8928-49D51E34E1C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133512-C7E3-4EE4-973C-24044359531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52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C72C-6757-28B8-DB05-501969DFD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Shopping Behavior &amp; Purchase Patterns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67418-6CBD-AC5D-4B4D-0FB703B09B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customer spending, discounts, and purchasing behavior across demographics</a:t>
            </a:r>
          </a:p>
        </p:txBody>
      </p:sp>
    </p:spTree>
    <p:extLst>
      <p:ext uri="{BB962C8B-B14F-4D97-AF65-F5344CB8AC3E}">
        <p14:creationId xmlns:p14="http://schemas.microsoft.com/office/powerpoint/2010/main" val="334143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C95A-FE79-EB9F-A43E-131A7AA2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Business Objective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155F93B-1E08-91C4-CB97-DE7F55202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28190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3039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C15AD-7408-3E30-734B-B4A86A42F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/>
              <a:t>Data Overview</a:t>
            </a:r>
          </a:p>
        </p:txBody>
      </p:sp>
      <p:pic>
        <p:nvPicPr>
          <p:cNvPr id="20" name="Graphic 19" descr="Suburban scene">
            <a:extLst>
              <a:ext uri="{FF2B5EF4-FFF2-40B4-BE49-F238E27FC236}">
                <a16:creationId xmlns:a16="http://schemas.microsoft.com/office/drawing/2014/main" id="{E13C368F-C52A-D0EB-8205-53DCF3EE1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F002DF70-6CDD-D305-4E96-882361D623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~3,900 customers / purchases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Customer demographics (age, gender, location)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Purchase attributes (items, colors, seasons)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Discount and subscription indicators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Review ratings and spend amounts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0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1E89-7920-E913-30CD-2B307837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F43BE-F31C-722B-EFB3-414AD8ACF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This immediately tells us how much value is driven by discounts and subscribers</a:t>
            </a:r>
          </a:p>
        </p:txBody>
      </p:sp>
      <p:pic>
        <p:nvPicPr>
          <p:cNvPr id="5" name="Picture 4" descr="A couple of people with a white background&#10;&#10;AI-generated content may be incorrect.">
            <a:extLst>
              <a:ext uri="{FF2B5EF4-FFF2-40B4-BE49-F238E27FC236}">
                <a16:creationId xmlns:a16="http://schemas.microsoft.com/office/drawing/2014/main" id="{13B8A0AD-EE87-EF5D-B3F4-863B5C769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59" y="2236996"/>
            <a:ext cx="10817525" cy="159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3765B-D752-B30E-FD98-197CA3B0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sz="4400" dirty="0"/>
              <a:t>Customer Satisfaction Signal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DAA6243-D9DE-A4B9-AC19-D67831E12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106"/>
            <a:ext cx="6019929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0B7DB-A1B6-5A27-733D-D7254D803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+mj-lt"/>
              </a:rPr>
              <a:t>Current average rating: </a:t>
            </a:r>
            <a:r>
              <a:rPr lang="en-US" sz="1800" b="1" dirty="0">
                <a:latin typeface="+mj-lt"/>
              </a:rPr>
              <a:t>3.75</a:t>
            </a:r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Target: </a:t>
            </a:r>
            <a:r>
              <a:rPr lang="en-US" sz="1800" b="1" dirty="0">
                <a:latin typeface="+mj-lt"/>
              </a:rPr>
              <a:t>4.20</a:t>
            </a:r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Performance is </a:t>
            </a:r>
            <a:r>
              <a:rPr lang="en-US" sz="1800" b="1" dirty="0">
                <a:latin typeface="+mj-lt"/>
              </a:rPr>
              <a:t>~11% below target</a:t>
            </a:r>
            <a:endParaRPr lang="en-US" sz="1800" dirty="0">
              <a:latin typeface="+mj-lt"/>
            </a:endParaRPr>
          </a:p>
          <a:p>
            <a:r>
              <a:rPr lang="en-US" sz="1800" b="1" dirty="0">
                <a:latin typeface="+mj-lt"/>
              </a:rPr>
              <a:t>Why it matters:</a:t>
            </a:r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Lower ratings may explain churn or reduced repeat purchases</a:t>
            </a:r>
          </a:p>
          <a:p>
            <a:r>
              <a:rPr lang="en-US" sz="1800" dirty="0">
                <a:latin typeface="+mj-lt"/>
              </a:rPr>
              <a:t>Highlights experience improvement opportunity</a:t>
            </a:r>
          </a:p>
          <a:p>
            <a:endParaRPr lang="en-US" sz="1800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4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369B-A548-C37C-DCE5-99924B46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Geographic Spend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46F114-8D1B-58CD-13C4-961910853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1845734"/>
            <a:ext cx="3819779" cy="40233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Green = strong performance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Yellow/Orange = moderate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Red = underperforming states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sz="1800" dirty="0">
                <a:latin typeface="+mj-lt"/>
              </a:rPr>
              <a:t>Spending performance varies significantly by state, suggesting region-specific marketing or logistics effects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6" name="Picture 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E16BECB-5110-191D-BAAF-66DAA2B27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58" y="1845734"/>
            <a:ext cx="6238622" cy="372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8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F35747-2822-4D06-BE10-CD33AC6B0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2C4466-5B1B-4361-B9D9-39ED9A8A3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AA938-B443-14F5-9455-BBA6D5B7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Product Preferences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D9A4FF-847D-7827-8E88-F4C348AD2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2236304"/>
            <a:ext cx="5977938" cy="36526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Clothing dominates purchases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Age groups show different item preferences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rgbClr val="FFFFFF"/>
              </a:solidFill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The most popular colors range in olive, yellow, silver, teal, green, cyan, violet, and gray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745DAE-5A8A-44FA-937C-CD65CF7A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040BD4B-C164-ED85-98F1-CC1247AC0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902" y="198409"/>
            <a:ext cx="4578557" cy="319858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7696AA1-B1DD-4C75-9AC1-69EE9F65F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3396996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EDD3B3C9-5FFC-5F9F-541D-0845AB2B4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532" y="3623904"/>
            <a:ext cx="4042166" cy="310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58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51EE-C12B-4A26-A88A-EAEE0C1A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Purchase Frequency &amp; Timing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1A229E-D86E-C014-F0B2-61097BD15D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20" y="1737360"/>
            <a:ext cx="597702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Older and middle-age groups purchase more frequently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Younger customers show lower repeat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Quarterly and annual purchases dominate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/>
              <a:t>Why this matters:</a:t>
            </a:r>
            <a:br>
              <a:rPr lang="en-US" sz="1800" dirty="0"/>
            </a:br>
            <a:r>
              <a:rPr lang="en-US" sz="1800" dirty="0"/>
              <a:t>“Different age groups respond to different cadence strategies.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Picture 5" descr="A graph of numbers and a few figures&#10;&#10;AI-generated content may be incorrect.">
            <a:extLst>
              <a:ext uri="{FF2B5EF4-FFF2-40B4-BE49-F238E27FC236}">
                <a16:creationId xmlns:a16="http://schemas.microsoft.com/office/drawing/2014/main" id="{0D0A614A-0533-5928-281F-281B84B74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341" y="1937182"/>
            <a:ext cx="5178658" cy="355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7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7949-2438-6347-F112-F1C749C8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Seasonality 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1A59D4-1EAC-0646-91B8-1FCF5C16EB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37360"/>
            <a:ext cx="471186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Fall and Spring drive the highest volume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Clothing and accessories lead across all seasons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Outerwear spikes seasonally as expected</a:t>
            </a:r>
          </a:p>
        </p:txBody>
      </p:sp>
      <p:pic>
        <p:nvPicPr>
          <p:cNvPr id="6" name="Picture 5" descr="A graph of sales&#10;&#10;AI-generated content may be incorrect.">
            <a:extLst>
              <a:ext uri="{FF2B5EF4-FFF2-40B4-BE49-F238E27FC236}">
                <a16:creationId xmlns:a16="http://schemas.microsoft.com/office/drawing/2014/main" id="{F0CDE233-5BB7-AB84-6E76-C87BA56CB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48" y="1880558"/>
            <a:ext cx="6198822" cy="436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8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66063-AF12-5AA3-4181-BA9DDE27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/>
              <a:t>Demographic Spend Split</a:t>
            </a:r>
          </a:p>
        </p:txBody>
      </p:sp>
      <p:pic>
        <p:nvPicPr>
          <p:cNvPr id="6" name="Picture 5" descr="A blue and pink pie chart&#10;&#10;AI-generated content may be incorrect.">
            <a:extLst>
              <a:ext uri="{FF2B5EF4-FFF2-40B4-BE49-F238E27FC236}">
                <a16:creationId xmlns:a16="http://schemas.microsoft.com/office/drawing/2014/main" id="{A331C360-CE71-74B4-D78D-368FF689C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82" y="1328475"/>
            <a:ext cx="5905038" cy="405440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AD3576B-68C4-9F4E-D15B-2EDA23119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Majority of spend driven by male customers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Important for messaging, product assortment, and promotions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91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C1363-37D8-08A7-F4CC-7D427D64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/>
              <a:t>Key Insights Summary</a:t>
            </a:r>
          </a:p>
        </p:txBody>
      </p:sp>
      <p:pic>
        <p:nvPicPr>
          <p:cNvPr id="8" name="Graphic 7" descr="Business Growth">
            <a:extLst>
              <a:ext uri="{FF2B5EF4-FFF2-40B4-BE49-F238E27FC236}">
                <a16:creationId xmlns:a16="http://schemas.microsoft.com/office/drawing/2014/main" id="{DEC292AE-D8C9-AA80-E668-3327F8649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DA8CC2D-14C3-99DB-AFB7-4C278282E7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Spending is concentrated among specific age groups and regions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Discounts play a large role but don’t dominate all segments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Subscribers represent a meaningful revenue base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Customer satisfaction is below target and may limit growth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Seasonal and demographic patterns present targeting opportunities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5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4A1EE-E0E5-4747-4B0E-4D12FF20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pic>
        <p:nvPicPr>
          <p:cNvPr id="20" name="Graphic 19" descr="CRM Customer Insights App">
            <a:extLst>
              <a:ext uri="{FF2B5EF4-FFF2-40B4-BE49-F238E27FC236}">
                <a16:creationId xmlns:a16="http://schemas.microsoft.com/office/drawing/2014/main" id="{9BE7EBFA-43D8-462F-3C14-0C5411856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DBADC6A-7A9E-3EF3-28F9-2A55E8B297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913" y="2464179"/>
            <a:ext cx="540356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Focus discounts on customers who shop often.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Make the shopping experience better to get higher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local trends to create region-specific promotions.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Offer stronger perks for customers who subscribe or buy regularly.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Plan stock based on seasonal shopping patterns.</a:t>
            </a:r>
          </a:p>
        </p:txBody>
      </p:sp>
    </p:spTree>
    <p:extLst>
      <p:ext uri="{BB962C8B-B14F-4D97-AF65-F5344CB8AC3E}">
        <p14:creationId xmlns:p14="http://schemas.microsoft.com/office/powerpoint/2010/main" val="42134120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365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Shopping Behavior &amp; Purchase Patterns </vt:lpstr>
      <vt:lpstr>Business Objective</vt:lpstr>
      <vt:lpstr>Data Overview</vt:lpstr>
      <vt:lpstr>Key Performance Indicators</vt:lpstr>
      <vt:lpstr>Customer Satisfaction Signal</vt:lpstr>
      <vt:lpstr>Geographic Spend Distribution</vt:lpstr>
      <vt:lpstr>Product Preferences</vt:lpstr>
      <vt:lpstr>Purchase Frequency &amp; Timing</vt:lpstr>
      <vt:lpstr>Seasonality Patterns</vt:lpstr>
      <vt:lpstr>Demographic Spend Split</vt:lpstr>
      <vt:lpstr>Key Insights Summary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REESE, KEY</dc:creator>
  <cp:lastModifiedBy>REESE, KEY</cp:lastModifiedBy>
  <cp:revision>12</cp:revision>
  <dcterms:created xsi:type="dcterms:W3CDTF">2025-12-18T00:58:06Z</dcterms:created>
  <dcterms:modified xsi:type="dcterms:W3CDTF">2025-12-18T01:47:07Z</dcterms:modified>
</cp:coreProperties>
</file>